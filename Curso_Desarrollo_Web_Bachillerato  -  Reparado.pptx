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359" y="-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3800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28016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56032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1016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029200" y="457200"/>
            <a:ext cx="4114800" cy="2743200"/>
          </a:xfrm>
          <a:prstGeom prst="ellipse">
            <a:avLst/>
          </a:prstGeom>
          <a:solidFill>
            <a:srgbClr val="58A6FF">
              <a:alpha val="8000"/>
            </a:srgbClr>
          </a:solidFill>
          <a:ln w="12700">
            <a:solidFill>
              <a:srgbClr val="58A6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" y="411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502920" y="11704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Moderno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502920" y="2029968"/>
            <a:ext cx="4114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02920" y="2176272"/>
            <a:ext cx="73152" cy="2926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85800" y="22128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27632" y="22128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la web?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2624328"/>
            <a:ext cx="73152" cy="29260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85800" y="26609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627632" y="26609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(Git + VS Code)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072384"/>
            <a:ext cx="73152" cy="29260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85800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27632" y="31089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Básico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520440"/>
            <a:ext cx="73152" cy="29260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85800" y="35570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627632" y="35570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Básico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968496"/>
            <a:ext cx="73152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85800" y="4005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627632" y="40050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/ Box Model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416552"/>
            <a:ext cx="73152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85800" y="44531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627632" y="44531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Año de Bachillerato  ·  Informática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36592"/>
            <a:ext cx="91440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Web?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· Servidores · Navegadores · URLs · HTTP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365760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Página Web?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ves en el navegador está hecho de tres lenguajes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1216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Piénsalo como una casa: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4358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es el HTML, la decoración es el CSS, y las funciones (luz, agua, alarma) son el JavaScript.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93392"/>
            <a:ext cx="2743200" cy="2697480"/>
          </a:xfrm>
          <a:prstGeom prst="rect">
            <a:avLst/>
          </a:prstGeom>
          <a:solidFill>
            <a:srgbClr val="21262D"/>
          </a:solidFill>
          <a:ln w="19050">
            <a:solidFill>
              <a:srgbClr val="FF7B72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274320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72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78408" y="2103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" y="2395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46888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elementos: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párrafos, imágenes,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botones, etc.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1993392"/>
            <a:ext cx="2743200" cy="2697480"/>
          </a:xfrm>
          <a:prstGeom prst="rect">
            <a:avLst/>
          </a:prstGeom>
          <a:solidFill>
            <a:srgbClr val="21262D"/>
          </a:solidFill>
          <a:ln w="19050">
            <a:solidFill>
              <a:srgbClr val="A371F7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27832" y="1993392"/>
            <a:ext cx="274320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36499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86200" y="2103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2395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364992" y="2697480"/>
            <a:ext cx="246888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364992" y="278892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colores, fuentes,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tamaños, posiciones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animaciones.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1993392"/>
            <a:ext cx="2743200" cy="2697480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135624" y="1993392"/>
            <a:ext cx="27432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272784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793992" y="21031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93992" y="2395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272784" y="2697480"/>
            <a:ext cx="246888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272784" y="2788920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INTERACTIVIDAD.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desplegables,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animaciones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aplicaciones web.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Internet?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 de una página web desde el servidor hasta tu pantalla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155448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15544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3192" y="182880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escribes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URL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74520" y="162763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039112" y="1207008"/>
            <a:ext cx="155448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039112" y="1207008"/>
            <a:ext cx="155448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42032" y="1298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12264" y="182880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convierte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→ IP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93592" y="162763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58184" y="1207008"/>
            <a:ext cx="155448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758184" y="1207008"/>
            <a:ext cx="15544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261104" y="1298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31336" y="182880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navegador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la página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12664" y="162763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77256" y="1207008"/>
            <a:ext cx="155448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3FB95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477256" y="1207008"/>
            <a:ext cx="155448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980176" y="1298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550408" y="182880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31736" y="1627632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196328" y="1207008"/>
            <a:ext cx="1554480" cy="1417320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196328" y="1207008"/>
            <a:ext cx="155448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699248" y="129844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69480" y="1828800"/>
            <a:ext cx="1408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navegador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página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743200"/>
            <a:ext cx="4023360" cy="2057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20040" y="2743200"/>
            <a:ext cx="40233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5720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¿Qué es HTTP/HTTPS?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15468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(HyperText Transfer Protocol) es el idioma que usan tu navegador y el servidor para comunicarse. Es como el protocolo de conversación.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= HTTP + Seguridad (cifrado). El candado 🔒 en tu navegador indica HTTPS.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2743200"/>
            <a:ext cx="4343400" cy="20574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4480560" y="2743200"/>
            <a:ext cx="43434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617720" y="2834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Anatomía de una URL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17720" y="3182112"/>
            <a:ext cx="41148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681728" y="3218688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https://www.google.com/maps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3566160"/>
            <a:ext cx="932688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617720" y="35844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617720" y="380390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641848" y="3566160"/>
            <a:ext cx="932688" cy="201168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641848" y="35844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641848" y="380390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Subdominio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665976" y="3566160"/>
            <a:ext cx="932688" cy="201168"/>
          </a:xfrm>
          <a:prstGeom prst="rect">
            <a:avLst/>
          </a:prstGeom>
          <a:solidFill>
            <a:srgbClr val="F0883E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6665976" y="35844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google.com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65976" y="380390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90104" y="3566160"/>
            <a:ext cx="932688" cy="201168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7690104" y="358444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/maps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690104" y="3803904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/ página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F2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Desarrollador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·  Git  ·  GitHub  ·  Terminal  ·  Primer Commit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300984"/>
            <a:ext cx="4114800" cy="0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 — Tu Editor de Código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favorito de los desarrolladores web en el mundo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20624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206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¿Qué es VS Code?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editor de texto gratuito y poderoso de Microsoft. Tiene colores para el código (syntax highlighting), autocompletado, extensiones y una terminal integrada.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697480"/>
            <a:ext cx="4206240" cy="21031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420624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Extensiones recomendadas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109728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58368" y="3154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3154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cambios en tiempo real en el navegador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109728" cy="2560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58368" y="3538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 tu código automáticamente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09728" cy="25603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58368" y="39227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CSS Support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3922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Autocompletado para HTML y CSS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279392"/>
            <a:ext cx="109728" cy="25603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58368" y="43068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43068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de Git en el editor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1170432"/>
            <a:ext cx="4160520" cy="3630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16052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00600" y="1261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Atajos de teclado esenciales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664208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00600" y="16733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35040" y="1691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archivo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057400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00600" y="20665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35040" y="2084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cambio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2450592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00600" y="24597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/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35040" y="24780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 línea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2843784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800600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+ ↑↓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35040" y="2871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línea arriba/abajo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236976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800600" y="32461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35040" y="3264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siguiente igual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630168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800600" y="36393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`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35040" y="3657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terminal integrada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4023360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4800600" y="4032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+ Tab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35040" y="4050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HTML automática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4416552"/>
            <a:ext cx="1143000" cy="228600"/>
          </a:xfrm>
          <a:prstGeom prst="rect">
            <a:avLst/>
          </a:prstGeom>
          <a:solidFill>
            <a:srgbClr val="21262D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4800600" y="44256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35040" y="44439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archivo rápido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 — Control de Versiones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más perderás tu trabajo. Git guarda el historial de todos tus cambios.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75488" y="12161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Analogía: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54480" y="121615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 como el historial de un documento de Google Docs — puedes ver cada cambio y volver a versiones anteriores. GitHub es donde guardas ese historial en internet.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429768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42976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720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Git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local en tu computadora.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cambio de tu código.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una vez en tu PC.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92040" y="1874520"/>
            <a:ext cx="4297680" cy="1371600"/>
          </a:xfrm>
          <a:prstGeom prst="rect">
            <a:avLst/>
          </a:prstGeom>
          <a:solidFill>
            <a:srgbClr val="21262D"/>
          </a:solidFill>
          <a:ln w="19050">
            <a:solidFill>
              <a:srgbClr val="8B949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892040" y="1874520"/>
            <a:ext cx="4297680" cy="5486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para guardar tu código.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proyectos con el mundo.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con otros programadores.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Google Drive, pero para código.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364992"/>
            <a:ext cx="8503920" cy="148132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20040" y="3364992"/>
            <a:ext cx="850392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456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Comandos Git esenciales (en la Terminal)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2011680" cy="21945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256032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un repositorio en tu carpeta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2011680" cy="21945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2560320" y="41605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TODOS los archivos al stage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4462272"/>
            <a:ext cx="2011680" cy="21945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57200" y="4471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"mensaje"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2560320" y="44897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un punto de control con descripción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3803904"/>
            <a:ext cx="2011680" cy="21945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800600" y="38130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6903720" y="38313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qué archivos han cambiado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00600" y="4133088"/>
            <a:ext cx="2011680" cy="21945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800600" y="41422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903720" y="41605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 de commits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4462272"/>
            <a:ext cx="2011680" cy="219456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800600" y="44714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903720" y="44897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cambios a GitHub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Tu Primer Commit — Paso a Paso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práctico: guarda tu primer proyecto con Git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011680" cy="38404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20116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carpeta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2011680" cy="91440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20116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29768" y="19842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58952" y="19842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1600200" y="19568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9768" y="219456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mi-web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mi-web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1148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terminal de VS Code,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entra a tu carpeta.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31720" y="2240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514600" y="1170432"/>
            <a:ext cx="2011680" cy="384048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51460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14600" y="1554480"/>
            <a:ext cx="20116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60604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Git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14600" y="1920240"/>
            <a:ext cx="2011680" cy="91440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514600" y="1920240"/>
            <a:ext cx="20116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2624328" y="19842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2788920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953512" y="19842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794760" y="19568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24328" y="219456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514600" y="2880360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260604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convierte tu carpeta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repositorio Git.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26280" y="2240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709160" y="1170432"/>
            <a:ext cx="2011680" cy="38404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70916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09160" y="1554480"/>
            <a:ext cx="20116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80060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index.html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1920240"/>
            <a:ext cx="2011680" cy="91440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4709160" y="1920240"/>
            <a:ext cx="20116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818888" y="19842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4983480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148072" y="19842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5989320" y="19568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18888" y="219456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 index.html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Escribe tu HTML en VS Code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4709160" y="2880360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80060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primer archivo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y escribe algo.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20840" y="2240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</a:rPr>
              <a:t>→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903720" y="1170432"/>
            <a:ext cx="201168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6903720" y="1170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903720" y="1554480"/>
            <a:ext cx="201168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699516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y confirma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03720" y="1920240"/>
            <a:ext cx="2011680" cy="91440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6903720" y="1920240"/>
            <a:ext cx="20116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7013448" y="19842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7178040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7342632" y="19842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8183880" y="19568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013448" y="219456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"primer commit"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903720" y="2880360"/>
            <a:ext cx="201168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699516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tu punto 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con un mensaje.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3675888"/>
            <a:ext cx="8503920" cy="1115568"/>
          </a:xfrm>
          <a:prstGeom prst="rect">
            <a:avLst/>
          </a:prstGeom>
          <a:solidFill>
            <a:srgbClr val="0D1F0D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Buenas prácticas para tus mensajes de commit: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4096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"agrego barra de navegación"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572000" y="40965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"corrijo error en formulario"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4389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"cambios"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572000" y="43891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"asdfgh"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A0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 ·  Etiquetas  ·  &lt;h1&gt; &lt;p&gt; &lt;a&gt; &lt;img&gt; &lt;ul&gt;  ·  Ejercicios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483864"/>
            <a:ext cx="4114800" cy="0"/>
          </a:xfrm>
          <a:prstGeom prst="line">
            <a:avLst/>
          </a:prstGeom>
          <a:noFill/>
          <a:ln w="1905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un Documento HTML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página web parte de esta misma base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297680" cy="37033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2976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12344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58952" y="12344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86200" y="12070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444752"/>
            <a:ext cx="407822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lang="es"&gt;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 content="width=device-width"&gt;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 Página&lt;/title&gt;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 href="estilos.css"&gt;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&lt;h1&gt;¡Hola Mundo!&lt;/h1&gt;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&lt;p&gt;Esta es mi primera página web.&lt;/p&gt;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754880" y="1243584"/>
            <a:ext cx="406908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E3B34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754880" y="1243584"/>
            <a:ext cx="54864" cy="42062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73752" y="1280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73752" y="14813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 al navegador que es HTML5. SIEMPRE va primero.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406908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54864" cy="42062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73752" y="1773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lang="es"&gt;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73752" y="1975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raíz. Todo el código va dentro.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754880" y="2231136"/>
            <a:ext cx="406908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754880" y="2231136"/>
            <a:ext cx="54864" cy="42062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873752" y="2267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73752" y="24688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la página: título, fuentes, CSS. No se ve en pantalla.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754880" y="2706624"/>
            <a:ext cx="406908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4754880" y="2706624"/>
            <a:ext cx="54864" cy="42062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873752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charset&gt;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73752" y="29443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caracteres (permite ñ, tildes, etc.).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754880" y="3182112"/>
            <a:ext cx="406908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754880" y="3182112"/>
            <a:ext cx="54864" cy="42062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73752" y="32186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73752" y="34198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que aparece en la pestaña del navegador.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754880" y="3675888"/>
            <a:ext cx="4069080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754880" y="3675888"/>
            <a:ext cx="54864" cy="42062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73752" y="3712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73752" y="39136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el usuario ve va aquí dentro.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754880" y="4160520"/>
            <a:ext cx="4069080" cy="658368"/>
          </a:xfrm>
          <a:prstGeom prst="rect">
            <a:avLst/>
          </a:prstGeom>
          <a:solidFill>
            <a:srgbClr val="0D2A1F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873752" y="422452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Atajo en VS Code: escribe  !  y presiona  Tab  para generar toda esta estructura automáticamente.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HTML Esenciales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etiquetas más usadas en cualquier página web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251960" cy="1234440"/>
          </a:xfrm>
          <a:prstGeom prst="rect">
            <a:avLst/>
          </a:prstGeom>
          <a:solidFill>
            <a:srgbClr val="21262D"/>
          </a:solidFill>
          <a:ln w="15240">
            <a:solidFill>
              <a:srgbClr val="FF7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25196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29768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 ... &lt;h6&gt;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encabezados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280160"/>
            <a:ext cx="2084832" cy="102412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68880" y="135331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&lt;h1&gt;Mi Blog&lt;/h1&gt;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&lt;h2&gt;Sobre mí&lt;/h2&gt;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128016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... h6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782312" y="1188720"/>
            <a:ext cx="4251960" cy="1234440"/>
          </a:xfrm>
          <a:prstGeom prst="rect">
            <a:avLst/>
          </a:prstGeom>
          <a:solidFill>
            <a:srgbClr val="21262D"/>
          </a:solidFill>
          <a:ln w="1524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782312" y="1188720"/>
            <a:ext cx="42519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9204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Párrafos de texto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39712" y="1280160"/>
            <a:ext cx="2084832" cy="102412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931152" y="135331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&lt;p&gt;Soy estudiante de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bachillerato.&lt;/p&gt;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839712" y="128016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20040" y="2514600"/>
            <a:ext cx="4251960" cy="1234440"/>
          </a:xfrm>
          <a:prstGeom prst="rect">
            <a:avLst/>
          </a:prstGeom>
          <a:solidFill>
            <a:srgbClr val="21262D"/>
          </a:solidFill>
          <a:ln w="1524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" y="2514600"/>
            <a:ext cx="42519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29768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href=""&gt;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2880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Hipervínculos / Links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2606040"/>
            <a:ext cx="2084832" cy="102412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468880" y="26791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href="https://google.com"&gt;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Ir a Google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377440" y="26060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href=""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782312" y="2514600"/>
            <a:ext cx="4251960" cy="1234440"/>
          </a:xfrm>
          <a:prstGeom prst="rect">
            <a:avLst/>
          </a:prstGeom>
          <a:solidFill>
            <a:srgbClr val="21262D"/>
          </a:solidFill>
          <a:ln w="1524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782312" y="2514600"/>
            <a:ext cx="425196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92040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src=""&gt;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880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(sin cierre)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39712" y="2606040"/>
            <a:ext cx="2084832" cy="102412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931152" y="26791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src="foto.jpg"
  alt="Mi foto"&gt;
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6839712" y="26060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src=""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20040" y="3840480"/>
            <a:ext cx="4251960" cy="1234440"/>
          </a:xfrm>
          <a:prstGeom prst="rect">
            <a:avLst/>
          </a:prstGeom>
          <a:solidFill>
            <a:srgbClr val="21262D"/>
          </a:solidFill>
          <a:ln w="1524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20040" y="3840480"/>
            <a:ext cx="425196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29768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 / &lt;ol&gt;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29768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sin orden / con orden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3931920"/>
            <a:ext cx="2084832" cy="102412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468880" y="40050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&lt;li&gt;HTML&lt;/li&gt;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&lt;li&gt;CSS&lt;/li&gt;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377440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 / ol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782312" y="3840480"/>
            <a:ext cx="4251960" cy="1234440"/>
          </a:xfrm>
          <a:prstGeom prst="rect">
            <a:avLst/>
          </a:prstGeom>
          <a:solidFill>
            <a:srgbClr val="21262D"/>
          </a:solidFill>
          <a:ln w="1524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4782312" y="3840480"/>
            <a:ext cx="425196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89204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 / &lt;span&gt;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genéricos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39712" y="3931920"/>
            <a:ext cx="2084832" cy="1024128"/>
          </a:xfrm>
          <a:prstGeom prst="rect">
            <a:avLst/>
          </a:prstGeom>
          <a:solidFill>
            <a:srgbClr val="0D1117"/>
          </a:solidFill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6931152" y="400507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class="caja"&gt;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&lt;span&gt;Texto&lt;/span&gt;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6839712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/ span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Ejercicio HTML — Mi Perfil Personal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este código en VS Code, guárdalo como index.html y ábrelo en el navegador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5029200" cy="374904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502920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12344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58952" y="12344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17720" y="12070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444752"/>
            <a:ext cx="48097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lang="es"&gt;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&lt;title&gt;Mi Perfil&lt;/title&gt;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&lt;h1&gt;👋 Hola, soy [TU NOMBRE]&lt;/h1&gt;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&lt;h2&gt;Sobre mí&lt;/h2&gt;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&lt;p&gt;Tengo [EDAD] años y estudio en [TU COLEGIO].&lt;/p&gt;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&lt;p&gt;Me gusta la tecnología y quiero aprender a programar.&lt;/p&gt;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&lt;h2&gt;Mis hobbies&lt;/h2&gt;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&lt;ul&gt;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&lt;li&gt;Escuchar música 🎵&lt;/li&gt;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&lt;li&gt;Jugar videojuegos 🎮&lt;/li&gt;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&lt;li&gt;Ver películas 🎬&lt;/li&gt;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&lt;/ul&gt;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&lt;h2&gt;Mis materias favoritas&lt;/h2&gt;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&lt;ol&gt;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&lt;li&gt;Informática&lt;/li&gt;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&lt;li&gt;Matemáticas&lt;/li&gt;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&lt;li&gt;Arte&lt;/li&gt;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&lt;/ol&gt;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&lt;h2&gt;Mi enlace favorito&lt;/h2&gt;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href="https://www.youtube.com"&gt;Ir a YouTube&lt;/a&gt;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486400" y="1170432"/>
            <a:ext cx="333756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486400" y="1170432"/>
            <a:ext cx="3337560" cy="256032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577840" y="12161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760720" y="121615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5943600" y="12161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989320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 el navegador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559552" y="1508760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Hola, soy [Tu Nombre]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59552" y="180136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59552" y="202996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[edad] años y estudio...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59552" y="2267712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hobbies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Escuchar música 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Jugar videojuegos 🎮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 películas 🎬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3456432"/>
            <a:ext cx="3337560" cy="1353312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486400" y="3456432"/>
            <a:ext cx="333756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623560" y="35478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Tareas para hacer: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385876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Reemplaza los textos con tu información real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Agrega una &lt;img&gt; con tu foto o avatar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Agrega otro enlace a tu red social favorita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Experimenta con más etiquetas HTML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1E0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 ·  Colores  ·  Fuentes  ·  Márgenes  ·  Relleno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483864"/>
            <a:ext cx="4114800" cy="0"/>
          </a:xfrm>
          <a:prstGeom prst="line">
            <a:avLst/>
          </a:prstGeom>
          <a:noFill/>
          <a:ln w="1905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Selectores y Sintaxis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es el lenguaje que le da estilo a tu página HTML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1097280"/>
          </a:xfrm>
          <a:prstGeom prst="rect">
            <a:avLst/>
          </a:prstGeom>
          <a:solidFill>
            <a:srgbClr val="21262D"/>
          </a:solidFill>
          <a:ln w="19050">
            <a:solidFill>
              <a:srgbClr val="A371F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una regla CSS: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 {  color:  red;  }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228600" cy="347472"/>
          </a:xfrm>
          <a:prstGeom prst="rect">
            <a:avLst/>
          </a:prstGeom>
          <a:solidFill>
            <a:srgbClr val="FF7B72">
              <a:alpha val="30000"/>
            </a:srgbClr>
          </a:solidFill>
          <a:ln w="12700">
            <a:solidFill>
              <a:srgbClr val="FF7B7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88720" y="1536192"/>
            <a:ext cx="548640" cy="347472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029968" y="1536192"/>
            <a:ext cx="411480" cy="347472"/>
          </a:xfrm>
          <a:prstGeom prst="rect">
            <a:avLst/>
          </a:prstGeom>
          <a:solidFill>
            <a:srgbClr val="3FB950">
              <a:alpha val="30000"/>
            </a:srgbClr>
          </a:solidFill>
          <a:ln w="12700">
            <a:solidFill>
              <a:srgbClr val="3FB95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20040" y="19019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Selector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78992" y="1901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Propiedad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20240" y="1901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Valor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2011680" cy="2560320"/>
          </a:xfrm>
          <a:prstGeom prst="rect">
            <a:avLst/>
          </a:prstGeom>
          <a:solidFill>
            <a:srgbClr val="21262D"/>
          </a:solidFill>
          <a:ln w="15240">
            <a:solidFill>
              <a:srgbClr val="FF7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20040" y="2212848"/>
            <a:ext cx="201168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1148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" y="2633472"/>
            <a:ext cx="1865376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93192" y="2633472"/>
            <a:ext cx="1865376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02920" y="26974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67512" y="26974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832104" y="26974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527048" y="26700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 }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1148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TODOS los elementos de ese tipo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14600" y="2212848"/>
            <a:ext cx="2011680" cy="2560320"/>
          </a:xfrm>
          <a:prstGeom prst="rect">
            <a:avLst/>
          </a:prstGeom>
          <a:solidFill>
            <a:srgbClr val="21262D"/>
          </a:solidFill>
          <a:ln w="1524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2514600" y="2212848"/>
            <a:ext cx="201168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260604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 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87752" y="2633472"/>
            <a:ext cx="1865376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2587752" y="2633472"/>
            <a:ext cx="1865376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2697480" y="26974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862072" y="26974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3026664" y="26974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721608" y="26700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9748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.boton {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.titulo { }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260604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elementos con ese class=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212848"/>
            <a:ext cx="2011680" cy="2560320"/>
          </a:xfrm>
          <a:prstGeom prst="rect">
            <a:avLst/>
          </a:prstGeom>
          <a:solidFill>
            <a:srgbClr val="21262D"/>
          </a:solidFill>
          <a:ln w="1524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4709160" y="2212848"/>
            <a:ext cx="201168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80060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#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82312" y="2633472"/>
            <a:ext cx="1865376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4782312" y="2633472"/>
            <a:ext cx="1865376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4892040" y="26974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5056632" y="26974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5221224" y="26974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916168" y="26700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89204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#menu {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#logo { }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480060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UN elemento específico con ese id=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903720" y="2212848"/>
            <a:ext cx="2011680" cy="2560320"/>
          </a:xfrm>
          <a:prstGeom prst="rect">
            <a:avLst/>
          </a:prstGeom>
          <a:solidFill>
            <a:srgbClr val="21262D"/>
          </a:solidFill>
          <a:ln w="1524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6903720" y="2212848"/>
            <a:ext cx="201168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699516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*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76872" y="2633472"/>
            <a:ext cx="1865376" cy="8229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6976872" y="2633472"/>
            <a:ext cx="1865376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7086600" y="26974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7251192" y="26974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7415784" y="26974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8110728" y="267004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08660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699516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TODOS los elementos de la página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— Colores, Fuentes y Espaciado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propiedades más usadas para darle vida a tu página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743200" cy="3657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09344"/>
            <a:ext cx="2560320" cy="260604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11480" y="1609344"/>
            <a:ext cx="25603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21208" y="16733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85800" y="167335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850392" y="16733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2240280" y="16459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" y="1883664"/>
            <a:ext cx="234086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Por nombre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red;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blue;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Hexadecimal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#FF5733;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#0D1117;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RGB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rgb(255, 87, 51);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 transparencia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rgba(0,0,0, 0.5);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347472" cy="347472"/>
          </a:xfrm>
          <a:prstGeom prst="rect">
            <a:avLst/>
          </a:prstGeom>
          <a:solidFill>
            <a:srgbClr val="FF5733"/>
          </a:solidFill>
          <a:ln w="12700">
            <a:solidFill>
              <a:srgbClr val="FF57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68680" y="4297680"/>
            <a:ext cx="347472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280160" y="4297680"/>
            <a:ext cx="347472" cy="3474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1691640" y="4297680"/>
            <a:ext cx="347472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103120" y="4297680"/>
            <a:ext cx="347472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514600" y="4297680"/>
            <a:ext cx="347472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#FF5733  #3498DB  #2ECC71  ...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3756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Fuentes y Texto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1609344"/>
            <a:ext cx="2560320" cy="294436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291840" y="1609344"/>
            <a:ext cx="25603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401568" y="16733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566160" y="167335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3730752" y="16733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120640" y="16459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01568" y="1883664"/>
            <a:ext cx="234086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font-style: italic;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underline;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1.6;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#333333;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Google Fonts en &lt;head&gt;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href="fonts.google.com/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css?family=Roboto"&gt;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080760" y="1188720"/>
            <a:ext cx="2743200" cy="36576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080760" y="1188720"/>
            <a:ext cx="27432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21792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Márgenes y Relleno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1609344"/>
            <a:ext cx="2560320" cy="294436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6172200" y="1609344"/>
            <a:ext cx="25603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6281928" y="167335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6446520" y="167335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6611112" y="167335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8001000" y="16459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281928" y="1883664"/>
            <a:ext cx="234086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Margen externo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20px;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10px;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margin-left: 5px;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Relleno interno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15px;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padding-top: 8px;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Ancho y alto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300px;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150px;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Borde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2px solid red;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Ejercicio CSS — Dale Estilo a tu Perfil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archivo estilos.css y enlázalo a tu index.html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389120" cy="376732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3891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12344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58952" y="12344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977640" y="12070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444752"/>
            <a:ext cx="416966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=== estilos.css === */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Estilo general del body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#f0f4f8;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#333333;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0;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El título principal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#1565C0;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32px;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Los subtítulos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#E65100;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border-bottom: 2px solid #E65100;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padding-bottom: 5px;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Los párrafos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16px;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line-height: 1.8;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600px;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Las listas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margin-bottom: 8px;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#2E7D32;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Los enlaces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#7B1FA2;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846320" y="1170432"/>
            <a:ext cx="3977640" cy="1051560"/>
          </a:xfrm>
          <a:prstGeom prst="rect">
            <a:avLst/>
          </a:prstGeom>
          <a:solidFill>
            <a:srgbClr val="0D2137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846320" y="1170432"/>
            <a:ext cx="39776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98348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Enlazar CSS desde 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554480"/>
            <a:ext cx="3840480" cy="621792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892040" y="1554480"/>
            <a:ext cx="38404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001768" y="161848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166360" y="161848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330952" y="161848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001000" y="15910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01768" y="18288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href="estilos.css"&gt;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846320" y="2267712"/>
            <a:ext cx="3977640" cy="2670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846320" y="2267712"/>
            <a:ext cx="397764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8348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Antes y Después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706624"/>
            <a:ext cx="1737360" cy="1207008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4937760" y="27066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CSS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83480" y="2944368"/>
            <a:ext cx="1627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nombre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plano aburrido...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84848" y="2706624"/>
            <a:ext cx="1920240" cy="1207008"/>
          </a:xfrm>
          <a:prstGeom prst="rect">
            <a:avLst/>
          </a:prstGeom>
          <a:solidFill>
            <a:srgbClr val="F0F4F8"/>
          </a:solidFill>
          <a:ln w="1016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784848" y="2706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CSS ✨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39712" y="2944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nombre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39712" y="32004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mí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76288" y="34198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con estilo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espaciado 🎨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5001768"/>
            <a:ext cx="3977640" cy="1188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92040" y="5020056"/>
            <a:ext cx="3886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prueba cambiar colores en hex y observa el resultado con Live Server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F2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Flexbox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  ·  display  ·  flex-direction  ·  justify-content  ·  align-items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483864"/>
            <a:ext cx="4572000" cy="0"/>
          </a:xfrm>
          <a:prstGeom prst="line">
            <a:avLst/>
          </a:prstGeom>
          <a:noFill/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Caja (Box Model)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CSS, cada elemento es una caja con estas 4 capas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4206240" cy="3566160"/>
          </a:xfrm>
          <a:prstGeom prst="rect">
            <a:avLst/>
          </a:prstGeom>
          <a:solidFill>
            <a:srgbClr val="1A1F2E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(margen externo)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9808" y="1572768"/>
            <a:ext cx="3621024" cy="2889504"/>
          </a:xfrm>
          <a:prstGeom prst="rect">
            <a:avLst/>
          </a:prstGeom>
          <a:solidFill>
            <a:srgbClr val="1F1530"/>
          </a:solidFill>
          <a:ln w="1905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22960" y="162763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(borde)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42416" y="1901952"/>
            <a:ext cx="3035808" cy="2231136"/>
          </a:xfrm>
          <a:prstGeom prst="rect">
            <a:avLst/>
          </a:prstGeom>
          <a:solidFill>
            <a:srgbClr val="0D2218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1115568" y="1956816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 (relleno interno)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71600" y="2286000"/>
            <a:ext cx="2359152" cy="1444752"/>
          </a:xfrm>
          <a:prstGeom prst="rect">
            <a:avLst/>
          </a:prstGeom>
          <a:solidFill>
            <a:srgbClr val="102A10"/>
          </a:solidFill>
          <a:ln w="1905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444752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contenido)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207008"/>
            <a:ext cx="3977640" cy="777240"/>
          </a:xfrm>
          <a:prstGeom prst="rect">
            <a:avLst/>
          </a:prstGeom>
          <a:solidFill>
            <a:srgbClr val="21262D"/>
          </a:solidFill>
          <a:ln w="1524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4846320" y="1207008"/>
            <a:ext cx="54864" cy="7772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74336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74336" y="1536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o imagen dentro del elemento. Se controla con width y height.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2075688"/>
            <a:ext cx="3977640" cy="777240"/>
          </a:xfrm>
          <a:prstGeom prst="rect">
            <a:avLst/>
          </a:prstGeom>
          <a:solidFill>
            <a:srgbClr val="21262D"/>
          </a:solidFill>
          <a:ln w="15240">
            <a:solidFill>
              <a:srgbClr val="3FB95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846320" y="2075688"/>
            <a:ext cx="54864" cy="7772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974336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4336" y="2404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entre el contenido y el borde. Es parte del fondo del elemento.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944368"/>
            <a:ext cx="3977640" cy="777240"/>
          </a:xfrm>
          <a:prstGeom prst="rect">
            <a:avLst/>
          </a:prstGeom>
          <a:solidFill>
            <a:srgbClr val="21262D"/>
          </a:solidFill>
          <a:ln w="1524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846320" y="2944368"/>
            <a:ext cx="54864" cy="7772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974336" y="3017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74336" y="3273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borde visible alrededor del elemento. Puede tener color, grosor y estilo.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813048"/>
            <a:ext cx="3977640" cy="777240"/>
          </a:xfrm>
          <a:prstGeom prst="rect">
            <a:avLst/>
          </a:prstGeom>
          <a:solidFill>
            <a:srgbClr val="21262D"/>
          </a:solidFill>
          <a:ln w="1524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4846320" y="3813048"/>
            <a:ext cx="54864" cy="7772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974336" y="38862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74336" y="4142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externo entre este elemento y los demás. Es transparente.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4663440"/>
            <a:ext cx="3977640" cy="47548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846320" y="4663440"/>
            <a:ext cx="397764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956048" y="472744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5120640" y="47274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5285232" y="472744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8092440" y="470001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56048" y="4937760"/>
            <a:ext cx="3758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200px;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3px solid purple;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30px;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— Diseño Flexible y Moderno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es la forma más fácil de organizar elementos en filas o columnas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8503920" cy="502920"/>
          </a:xfrm>
          <a:prstGeom prst="rect">
            <a:avLst/>
          </a:prstGeom>
          <a:solidFill>
            <a:srgbClr val="0A1F0A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Para activar Flexbox, escribe  display: flex;  en el elemento CONTENEDOR. Los elementos hijos se organizan automáticamente.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4251960" cy="1554480"/>
          </a:xfrm>
          <a:prstGeom prst="rect">
            <a:avLst/>
          </a:prstGeom>
          <a:solidFill>
            <a:srgbClr val="21262D"/>
          </a:solidFill>
          <a:ln w="1524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42519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29768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flex-direction: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" y="2267712"/>
            <a:ext cx="109728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12648" y="2286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(→ izq a der)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" y="2523744"/>
            <a:ext cx="109728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12648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(↓ arriba abajo)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" y="2779776"/>
            <a:ext cx="109728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2648" y="27980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row-reverse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9768" y="3035808"/>
            <a:ext cx="109728" cy="1828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12648" y="30540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column-reverse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82312" y="1810512"/>
            <a:ext cx="4251960" cy="1554480"/>
          </a:xfrm>
          <a:prstGeom prst="rect">
            <a:avLst/>
          </a:prstGeom>
          <a:solidFill>
            <a:srgbClr val="21262D"/>
          </a:solidFill>
          <a:ln w="1524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82312" y="1810512"/>
            <a:ext cx="425196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92040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justify-content: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267712"/>
            <a:ext cx="109728" cy="182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74920" y="22860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 (inicio)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92040" y="2523744"/>
            <a:ext cx="109728" cy="182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074920" y="2542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(centrado)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2779776"/>
            <a:ext cx="109728" cy="182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074920" y="27980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flex-end (final)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92040" y="3035808"/>
            <a:ext cx="109728" cy="1828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074920" y="30540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space-between (separados)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474720"/>
            <a:ext cx="4251960" cy="1554480"/>
          </a:xfrm>
          <a:prstGeom prst="rect">
            <a:avLst/>
          </a:prstGeom>
          <a:solidFill>
            <a:srgbClr val="21262D"/>
          </a:solidFill>
          <a:ln w="1524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320040" y="3474720"/>
            <a:ext cx="425196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29768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align-items: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" y="3931920"/>
            <a:ext cx="109728" cy="1828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12648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flex-start (arriba)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29768" y="4187952"/>
            <a:ext cx="109728" cy="1828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12648" y="4206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(medio)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9768" y="4443984"/>
            <a:ext cx="109728" cy="1828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12648" y="4462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flex-end (abajo)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9768" y="4700016"/>
            <a:ext cx="109728" cy="1828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12648" y="47183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(estirado)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82312" y="3474720"/>
            <a:ext cx="4251960" cy="1554480"/>
          </a:xfrm>
          <a:prstGeom prst="rect">
            <a:avLst/>
          </a:prstGeom>
          <a:solidFill>
            <a:srgbClr val="21262D"/>
          </a:solidFill>
          <a:ln w="1524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4782312" y="3474720"/>
            <a:ext cx="425196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892040" y="3584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flex-wrap: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92040" y="3931920"/>
            <a:ext cx="109728" cy="1828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074920" y="3950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nowrap (todo en una línea)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92040" y="4187952"/>
            <a:ext cx="109728" cy="1828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5074920" y="4206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(salto de línea)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92040" y="4443984"/>
            <a:ext cx="109728" cy="1828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5074920" y="4462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10px (espacio entre)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92040" y="4700016"/>
            <a:ext cx="109728" cy="1828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5074920" y="47183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(elementos iguales)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4864608"/>
            <a:ext cx="8503920" cy="2743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429768" y="492861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594360" y="492861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758952" y="492861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8092440" y="49011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29768" y="5138928"/>
            <a:ext cx="828446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.contenedor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657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2A1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8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3364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completa  ·  HTML + CSS + Flexbox  ·  Paso a Paso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328416"/>
            <a:ext cx="4114800" cy="0"/>
          </a:xfrm>
          <a:prstGeom prst="line">
            <a:avLst/>
          </a:prstGeom>
          <a:noFill/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Paso 1: El HTML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estructura de tu página web de portafolio personal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754880" cy="379476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475488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12344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58952" y="12344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343400" y="12070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444752"/>
            <a:ext cx="4535424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&lt;title&gt;Mi Portafolio&lt;/title&gt;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href="estilos.css"&gt;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ENCABEZADO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href="#sobre-mi"&gt;Sobre mí&lt;/a&gt;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href="#proyectos"&gt;Proyectos&lt;/a&gt;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href="#contacto"&gt;Contacto&lt;/a&gt;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&lt;/header&gt;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SECCIÓN HERO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id="hero"&gt;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&lt;h1&gt;👋 Hola, soy [Tu Nombre]&lt;/h1&gt;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&lt;p&gt;Estudiante de bachillerato aprendiendo a programar&lt;/p&gt;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href="#proyectos"&gt;Ver mis proyectos&lt;/a&gt;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SOBRE MÍ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id="sobre-mi"&gt;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&lt;h2&gt;Sobre mí&lt;/h2&gt;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&lt;p&gt;Tengo [edad] años y me apasiona la tecnología.&lt;/p&gt;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PROYECTOS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id="proyectos"&gt;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&lt;h2&gt;Mis Proyectos&lt;/h2&gt;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class="tarjetas"&gt;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class="tarjeta"&gt;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&lt;h3&gt;Proyecto 1&lt;/h3&gt;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&lt;p&gt;Mi primera página HTML&lt;/p&gt;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class="tarjeta"&gt;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&lt;h3&gt;Proyecto 2&lt;/h3&gt;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&lt;p&gt;Página con CSS&lt;/p&gt;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&lt;/section&gt;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PIE DE PÁGINA --&gt;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&lt;p&gt;Hecho con ❤️ por [Tu Nombre] — 2024&lt;/p&gt;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&lt;/footer&gt;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212080" y="1170432"/>
            <a:ext cx="3657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212080" y="1170432"/>
            <a:ext cx="54864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340096" y="122529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0096" y="1463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navegación superior con links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0" y="1792224"/>
            <a:ext cx="3657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212080" y="1792224"/>
            <a:ext cx="54864" cy="5486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340096" y="18470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0096" y="20848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navegación con los &lt;a&gt; enlaces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12080" y="2414016"/>
            <a:ext cx="3657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212080" y="2414016"/>
            <a:ext cx="54864" cy="54864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340096" y="24688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id="hero"&gt;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40096" y="270662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principal con tu nombre y presentación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2080" y="3035808"/>
            <a:ext cx="3657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212080" y="3035808"/>
            <a:ext cx="54864" cy="54864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340096" y="30906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id="sobre-mi"&gt;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40096" y="332841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información personal y sobre ti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12080" y="3657600"/>
            <a:ext cx="3657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212080" y="3657600"/>
            <a:ext cx="54864" cy="5486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340096" y="37124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class="tarjetas"&gt;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0096" y="395020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de tarjetas de proyectos (usaremos Flexbox aquí)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12080" y="4279392"/>
            <a:ext cx="3657600" cy="54864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5212080" y="4279392"/>
            <a:ext cx="54864" cy="5486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5340096" y="433425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0096" y="45720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de página con créditos y derechos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502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47472" y="164592"/>
            <a:ext cx="54864" cy="6583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12801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Paso 2: El CSS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603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Dale estilo profesional a tu portafolio con este CSS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120640" cy="3767328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512064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12344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58952" y="12344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709160" y="12070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9768" y="1444752"/>
            <a:ext cx="490118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=== estilos.css === */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margin: 0; padding: 0; box-sizing: border-box;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'Segoe UI', sans-serif;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#0D1117;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#CDD9E5;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HEADER Y NAVEGACIÓN ──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#161B22;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16px 32px;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border-bottom: 1px solid #30363D;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{ display: flex; gap: 24px; justify-content: flex-end;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#58A6FF;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a:hover { color: #FFFFFF;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SECCIÓN HERO ──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80px 20px;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linear-gradient(135deg, #0D1117 0%, #1a1f35 100%);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h1 { font-size: 48px; margin-bottom: 16px;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p  { font-size: 18px; color: #8B949E;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#hero a 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inline-block;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24px;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12px 32px;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#1F6FEB;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6px;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text-decoration: none;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TARJETAS DE PROYECTOS ──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.tarjetas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20px;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40px;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.tarjeta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#161B22;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1px solid #30363D;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8px;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24px;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280px;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0.2s;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.tarjeta:hover { transform: translateY(-4px); }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── FOOTER ── */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24px;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#161B22;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#8B949E;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border-top: 1px solid #30363D;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577840" y="1170432"/>
            <a:ext cx="324612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5577840" y="1170432"/>
            <a:ext cx="54864" cy="6400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705856" y="12252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border-box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05856" y="1481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que el padding NO aumente el tamaño del elemento. Siempre úsalo.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883664"/>
            <a:ext cx="324612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D2A8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5577840" y="1883664"/>
            <a:ext cx="54864" cy="64008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705856" y="1938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linear-gradient()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05856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con degradado de colores. Se usa en background.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2596896"/>
            <a:ext cx="324612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577840" y="2596896"/>
            <a:ext cx="54864" cy="640080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705856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0.2s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05856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suave cuando el usuario pasa el mouse sobre la tarjeta.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3310128"/>
            <a:ext cx="324612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FF7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577840" y="3310128"/>
            <a:ext cx="54864" cy="640080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705856" y="33649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translateY()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05856" y="3621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elemento hacia arriba (-4px) al hacer hover.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4023360"/>
            <a:ext cx="324612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577840" y="4023360"/>
            <a:ext cx="54864" cy="64008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705856" y="4078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 + gap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05856" y="43342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con espacio entre tarjetas. Wrap para que bajen a nueva línea.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1024128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Resumen del Curso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aprendiste en este curso de Desarrollo Web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2743200" cy="1664208"/>
          </a:xfrm>
          <a:prstGeom prst="rect">
            <a:avLst/>
          </a:prstGeom>
          <a:solidFill>
            <a:srgbClr val="21262D"/>
          </a:solidFill>
          <a:ln w="19050">
            <a:solidFill>
              <a:srgbClr val="58A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27432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429768" y="1316736"/>
            <a:ext cx="411480" cy="411480"/>
          </a:xfrm>
          <a:prstGeom prst="rect">
            <a:avLst/>
          </a:prstGeom>
          <a:solidFill>
            <a:srgbClr val="58A6FF">
              <a:alpha val="25000"/>
            </a:srgbClr>
          </a:solidFill>
          <a:ln w="12700">
            <a:solidFill>
              <a:srgbClr val="58A6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29768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la web?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1828800"/>
            <a:ext cx="2487168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29768" y="192024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· DNS · Servidores · URLs · Navegadores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64408" y="1207008"/>
            <a:ext cx="2743200" cy="1664208"/>
          </a:xfrm>
          <a:prstGeom prst="rect">
            <a:avLst/>
          </a:prstGeom>
          <a:solidFill>
            <a:srgbClr val="21262D"/>
          </a:solidFill>
          <a:ln w="19050">
            <a:solidFill>
              <a:srgbClr val="F0883E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64408" y="1207008"/>
            <a:ext cx="2743200" cy="54864"/>
          </a:xfrm>
          <a:prstGeom prst="rect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374136" y="1316736"/>
            <a:ext cx="411480" cy="411480"/>
          </a:xfrm>
          <a:prstGeom prst="rect">
            <a:avLst/>
          </a:prstGeom>
          <a:solidFill>
            <a:srgbClr val="F0883E">
              <a:alpha val="25000"/>
            </a:srgbClr>
          </a:solidFill>
          <a:ln w="12700">
            <a:solidFill>
              <a:srgbClr val="F0883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74136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74136" y="1828800"/>
            <a:ext cx="2487168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374136" y="192024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Git · GitHub · Terminal · Primer Commit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08776" y="1207008"/>
            <a:ext cx="2743200" cy="1664208"/>
          </a:xfrm>
          <a:prstGeom prst="rect">
            <a:avLst/>
          </a:prstGeom>
          <a:solidFill>
            <a:srgbClr val="21262D"/>
          </a:solidFill>
          <a:ln w="19050">
            <a:solidFill>
              <a:srgbClr val="FF7B72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6208776" y="1207008"/>
            <a:ext cx="2743200" cy="54864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6318504" y="1316736"/>
            <a:ext cx="411480" cy="411480"/>
          </a:xfrm>
          <a:prstGeom prst="rect">
            <a:avLst/>
          </a:prstGeom>
          <a:solidFill>
            <a:srgbClr val="FF7B72">
              <a:alpha val="25000"/>
            </a:srgbClr>
          </a:solidFill>
          <a:ln w="12700">
            <a:solidFill>
              <a:srgbClr val="FF7B7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318504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03136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Básico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18504" y="1828800"/>
            <a:ext cx="2487168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318504" y="192024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· &lt;h1-6&gt; · &lt;p&gt; · &lt;a&gt; · &lt;img&gt; · &lt;ul&gt;&lt;ol&gt;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990088"/>
            <a:ext cx="2743200" cy="1664208"/>
          </a:xfrm>
          <a:prstGeom prst="rect">
            <a:avLst/>
          </a:prstGeom>
          <a:solidFill>
            <a:srgbClr val="21262D"/>
          </a:solidFill>
          <a:ln w="19050">
            <a:solidFill>
              <a:srgbClr val="A371F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20040" y="2990088"/>
            <a:ext cx="2743200" cy="54864"/>
          </a:xfrm>
          <a:prstGeom prst="rect">
            <a:avLst/>
          </a:prstGeom>
          <a:solidFill>
            <a:srgbClr val="A371F7"/>
          </a:solidFill>
          <a:ln w="12700">
            <a:solidFill>
              <a:srgbClr val="A371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29768" y="3099816"/>
            <a:ext cx="411480" cy="411480"/>
          </a:xfrm>
          <a:prstGeom prst="rect">
            <a:avLst/>
          </a:prstGeom>
          <a:solidFill>
            <a:srgbClr val="A371F7">
              <a:alpha val="25000"/>
            </a:srgbClr>
          </a:solidFill>
          <a:ln w="12700">
            <a:solidFill>
              <a:srgbClr val="A371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29768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Básico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" y="3611880"/>
            <a:ext cx="2487168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29768" y="370332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· Colores · Fuentes · Márgenes · Padding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64408" y="2990088"/>
            <a:ext cx="2743200" cy="1664208"/>
          </a:xfrm>
          <a:prstGeom prst="rect">
            <a:avLst/>
          </a:prstGeom>
          <a:solidFill>
            <a:srgbClr val="21262D"/>
          </a:solidFill>
          <a:ln w="19050">
            <a:solidFill>
              <a:srgbClr val="39D353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3264408" y="2990088"/>
            <a:ext cx="2743200" cy="54864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3374136" y="3099816"/>
            <a:ext cx="411480" cy="411480"/>
          </a:xfrm>
          <a:prstGeom prst="rect">
            <a:avLst/>
          </a:prstGeom>
          <a:solidFill>
            <a:srgbClr val="39D353">
              <a:alpha val="25000"/>
            </a:srgbClr>
          </a:solidFill>
          <a:ln w="12700">
            <a:solidFill>
              <a:srgbClr val="39D35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3374136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58768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+ Flexbox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74136" y="3611880"/>
            <a:ext cx="2487168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3374136" y="370332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 · display:flex · justify · align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208776" y="2990088"/>
            <a:ext cx="2743200" cy="1664208"/>
          </a:xfrm>
          <a:prstGeom prst="rect">
            <a:avLst/>
          </a:prstGeom>
          <a:solidFill>
            <a:srgbClr val="21262D"/>
          </a:solidFill>
          <a:ln w="19050">
            <a:solidFill>
              <a:srgbClr val="E3B341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6208776" y="2990088"/>
            <a:ext cx="27432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6318504" y="3099816"/>
            <a:ext cx="411480" cy="411480"/>
          </a:xfrm>
          <a:prstGeom prst="rect">
            <a:avLst/>
          </a:prstGeom>
          <a:solidFill>
            <a:srgbClr val="E3B341">
              <a:alpha val="25000"/>
            </a:srgbClr>
          </a:solidFill>
          <a:ln w="12700">
            <a:solidFill>
              <a:srgbClr val="E3B34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318504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03136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18504" y="3611880"/>
            <a:ext cx="2487168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6318504" y="3703320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completo con HTML + CSS + Flexbox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Continúa practicando:  javascript.info  ·  developer.mozilla.org  ·  freecodecamp.org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3440</Words>
  <Application>Microsoft Office PowerPoint</Application>
  <PresentationFormat>Presentación en pantalla (16:9)</PresentationFormat>
  <Paragraphs>709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de Desarrollo Web</dc:title>
  <dc:subject>PptxGenJS Presentation</dc:subject>
  <dc:creator>PptxGenJS</dc:creator>
  <cp:lastModifiedBy>xiomara Batres</cp:lastModifiedBy>
  <cp:revision>2</cp:revision>
  <dcterms:created xsi:type="dcterms:W3CDTF">2026-04-30T14:17:05Z</dcterms:created>
  <dcterms:modified xsi:type="dcterms:W3CDTF">2026-04-30T14:38:55Z</dcterms:modified>
</cp:coreProperties>
</file>